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lus Jakarta Sans"/>
      <p:bold r:id="rId17"/>
    </p:embeddedFont>
    <p:embeddedFont>
      <p:font typeface="JetBrains Mono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43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029325"/>
            <a:ext cx="108204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6100" y="547687"/>
            <a:ext cx="800100" cy="333375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6029325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9450" y="604837"/>
            <a:ext cx="628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ĐỀ TÀI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61319"/>
            <a:ext cx="183864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59E0B"/>
                </a:solidFill>
                <a:latin typeface="Plus Jakarta Sans"/>
              </a:rPr>
              <a:t>KIẾN TRÚC DỮ LIỆU </a:t>
            </a:r>
            <a:r>
              <a:rPr sz="1050" b="1" i="0" u="none" dirty="0" smtClean="0">
                <a:solidFill>
                  <a:srgbClr val="F59E0B"/>
                </a:solidFill>
                <a:latin typeface="Plus Jakarta Sans"/>
              </a:rPr>
              <a:t>NOSQL</a:t>
            </a:r>
            <a:endParaRPr sz="1050" b="1" i="0" u="none" dirty="0">
              <a:solidFill>
                <a:srgbClr val="F59E0B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747069"/>
            <a:ext cx="11506200" cy="525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FFFFF"/>
                </a:solidFill>
                <a:latin typeface="Plus Jakarta Sans"/>
              </a:rPr>
              <a:t>Hệ Thống FinGuard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5130"/>
            <a:ext cx="8286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Nghiên cứu và xây dựng hệ thống phát hiện gian lận giao dịch với Neo4j và chống tấn công Brute-Force với Redis theo mô hình Polyglot Persistence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72200"/>
            <a:ext cx="5024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Khảo sát thiết kế CSDL &amp; Trực quan hóa 6 trang giao diện demo thực tế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9900" y="6172200"/>
            <a:ext cx="11620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38BDF8"/>
                </a:solidFill>
                <a:latin typeface="Plus Jakarta Sans"/>
              </a:rPr>
              <a:t>Học</a:t>
            </a:r>
            <a:r>
              <a:rPr sz="975" b="1" i="0" u="none" dirty="0">
                <a:solidFill>
                  <a:srgbClr val="38BDF8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38BDF8"/>
                </a:solidFill>
                <a:latin typeface="Plus Jakarta Sans"/>
              </a:rPr>
              <a:t>kỳ</a:t>
            </a:r>
            <a:r>
              <a:rPr sz="975" b="1" i="0" u="none" dirty="0">
                <a:solidFill>
                  <a:srgbClr val="38BDF8"/>
                </a:solidFill>
                <a:latin typeface="Plus Jakarta Sans"/>
              </a:rPr>
              <a:t> 1 /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3400"/>
            <a:ext cx="5024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ĐẠI HỌC CÔNG THƯƠNG TP. HỒ CHÍ MINH • KHOA CNTT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42950"/>
            <a:ext cx="5024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Báo Cáo Đồ Án Môn Học: Cơ Sở Dữ Liệu NoSQL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180"/>
            <a:ext cx="16097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Giảng viên hướng dẫn: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1275" y="4206180"/>
            <a:ext cx="46958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Sinh viên thực hiện: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44305"/>
            <a:ext cx="1893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ThS. Trần Quang Bình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1275" y="4444305"/>
            <a:ext cx="258404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FFFFFF"/>
                </a:solidFill>
                <a:latin typeface="Plus Jakarta Sans"/>
              </a:rPr>
              <a:t>Nguyễn</a:t>
            </a:r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FFFFFF"/>
                </a:solidFill>
                <a:latin typeface="Plus Jakarta Sans"/>
              </a:rPr>
              <a:t>Quang</a:t>
            </a:r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FFFFFF"/>
                </a:solidFill>
                <a:latin typeface="Plus Jakarta Sans"/>
              </a:rPr>
              <a:t>Đức</a:t>
            </a:r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 (2001230195) </a:t>
            </a:r>
            <a:r>
              <a:rPr sz="1200" b="1" i="0" u="none" dirty="0" smtClean="0">
                <a:solidFill>
                  <a:srgbClr val="FFFFFF"/>
                </a:solidFill>
                <a:latin typeface="Plus Jakarta Sans"/>
              </a:rPr>
              <a:t> </a:t>
            </a:r>
            <a:endParaRPr lang="en-US" sz="1200" b="1" i="0" u="none" dirty="0" smtClean="0">
              <a:solidFill>
                <a:srgbClr val="FFFFFF"/>
              </a:solidFill>
              <a:latin typeface="Plus Jakarta Sans"/>
            </a:endParaRPr>
          </a:p>
          <a:p>
            <a:pPr algn="l"/>
            <a:r>
              <a:rPr sz="1200" b="1" i="0" u="none" dirty="0" smtClean="0">
                <a:solidFill>
                  <a:srgbClr val="FFFFFF"/>
                </a:solidFill>
                <a:latin typeface="Plus Jakarta Sans"/>
              </a:rPr>
              <a:t>Chu </a:t>
            </a:r>
            <a:r>
              <a:rPr sz="1200" b="1" i="0" u="none" dirty="0" err="1">
                <a:solidFill>
                  <a:srgbClr val="FFFFFF"/>
                </a:solidFill>
                <a:latin typeface="Plus Jakarta Sans"/>
              </a:rPr>
              <a:t>Đức</a:t>
            </a:r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FFFFFF"/>
                </a:solidFill>
                <a:latin typeface="Plus Jakarta Sans"/>
              </a:rPr>
              <a:t>Vân</a:t>
            </a:r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 (2001231028)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60960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1500" y="2285404"/>
            <a:ext cx="5429250" cy="2677715"/>
          </a:xfrm>
          <a:prstGeom prst="roundRect">
            <a:avLst>
              <a:gd name="adj" fmla="val 42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285404"/>
            <a:ext cx="5429250" cy="2677715"/>
          </a:xfrm>
          <a:prstGeom prst="roundRect">
            <a:avLst>
              <a:gd name="adj" fmla="val 42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1525" y="4410670"/>
            <a:ext cx="5029200" cy="352425"/>
          </a:xfrm>
          <a:prstGeom prst="roundRect">
            <a:avLst>
              <a:gd name="adj" fmla="val 1621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91275" y="4410670"/>
            <a:ext cx="5029200" cy="352425"/>
          </a:xfrm>
          <a:prstGeom prst="roundRect">
            <a:avLst>
              <a:gd name="adj" fmla="val 1621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1525" y="2485429"/>
            <a:ext cx="1638300" cy="219075"/>
          </a:xfrm>
          <a:prstGeom prst="roundRect">
            <a:avLst>
              <a:gd name="adj" fmla="val 2608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91275" y="2485429"/>
            <a:ext cx="1781175" cy="219075"/>
          </a:xfrm>
          <a:prstGeom prst="roundRect">
            <a:avLst>
              <a:gd name="adj" fmla="val 26086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650" y="2499717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975" y="2499717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833605"/>
            <a:ext cx="111442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 Kiến Trúc Dữ Liệu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024105"/>
            <a:ext cx="11620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Kiến Trúc Polyglot Persistence: Neo4j &amp; 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39558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Phân định trách nhiệm chuyên biệt hóa giữa cơ sở dữ liệu đồ thị và cơ sở dữ liệu In-Memory tốc độ cao.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6191250"/>
            <a:ext cx="5738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Kiến trúc 3 tầng: Client Dashboard ↔ Express.js Backend ↔ Polyglot Databases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9675" y="6196012"/>
            <a:ext cx="32980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Neo4j Aura Cloud (7687) &amp; Upstash Redis (6379)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486870"/>
            <a:ext cx="489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Plus Jakarta Sans"/>
              </a:rPr>
              <a:t>Nhiệm vụ: Duyệt chu trình rửa tiền &amp; Lưu trữ số dư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4486870"/>
            <a:ext cx="489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B91C1C"/>
                </a:solidFill>
                <a:latin typeface="Plus Jakarta Sans"/>
              </a:rPr>
              <a:t>Nhiệm vụ: Hấp thụ tải xác thực &amp; Chặn Brute-Force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2818804"/>
            <a:ext cx="2109552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vi-VN" sz="1275" b="1" dirty="0" smtClean="0">
                <a:solidFill>
                  <a:srgbClr val="0F172A"/>
                </a:solidFill>
                <a:latin typeface="Plus Jakarta Sans"/>
              </a:rPr>
              <a:t>Quản Lí </a:t>
            </a:r>
            <a:r>
              <a:rPr sz="1275" b="1" i="0" u="none" dirty="0" err="1" smtClean="0">
                <a:solidFill>
                  <a:srgbClr val="0F172A"/>
                </a:solidFill>
                <a:latin typeface="Plus Jakarta Sans"/>
              </a:rPr>
              <a:t>Quan</a:t>
            </a:r>
            <a:r>
              <a:rPr sz="1275" b="1" i="0" u="none" dirty="0" smtClean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Plus Jakarta Sans"/>
              </a:rPr>
              <a:t>Hệ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Plus Jakarta Sans"/>
              </a:rPr>
              <a:t>Tài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Plus Jakarta Sans"/>
              </a:rPr>
              <a:t>Chính</a:t>
            </a:r>
            <a:endParaRPr sz="1275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91275" y="2818804"/>
            <a:ext cx="5800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Lá Chắn Bảo Mật Tốc Độ Cao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2523529"/>
            <a:ext cx="1543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FFFFFF"/>
                </a:solidFill>
                <a:latin typeface="Plus Jakarta Sans"/>
              </a:rPr>
              <a:t>NEO4J GRAPH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123604"/>
            <a:ext cx="6286500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 dirty="0">
                <a:solidFill>
                  <a:srgbClr val="334155"/>
                </a:solidFill>
                <a:latin typeface="Plus Jakarta Sans"/>
              </a:rPr>
              <a:t>• </a:t>
            </a:r>
            <a:r>
              <a:rPr sz="975" b="1" i="0" u="none" dirty="0" err="1">
                <a:solidFill>
                  <a:srgbClr val="334155"/>
                </a:solidFill>
                <a:latin typeface="Plus Jakarta Sans"/>
              </a:rPr>
              <a:t>Mô</a:t>
            </a:r>
            <a:r>
              <a:rPr sz="975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334155"/>
                </a:solidFill>
                <a:latin typeface="Plus Jakarta Sans"/>
              </a:rPr>
              <a:t>hình</a:t>
            </a:r>
            <a:r>
              <a:rPr sz="975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334155"/>
                </a:solidFill>
                <a:latin typeface="Plus Jakarta Sans"/>
              </a:rPr>
              <a:t>Đồ</a:t>
            </a:r>
            <a:r>
              <a:rPr sz="975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334155"/>
                </a:solidFill>
                <a:latin typeface="Plus Jakarta Sans"/>
              </a:rPr>
              <a:t>thị</a:t>
            </a:r>
            <a:r>
              <a:rPr sz="975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"/>
              </a:rPr>
              <a:t>Quản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"/>
              </a:rPr>
              <a:t>lý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"/>
              </a:rPr>
              <a:t>đỉnh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"/>
              </a:rPr>
              <a:t>tài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"/>
              </a:rPr>
              <a:t>khoản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:Account </a:t>
            </a:r>
            <a:r>
              <a:rPr sz="975" b="0" i="0" u="none" dirty="0" err="1">
                <a:solidFill>
                  <a:srgbClr val="334155"/>
                </a:solidFill>
                <a:latin typeface="Plus Jakarta Sans"/>
              </a:rPr>
              <a:t>và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"/>
              </a:rPr>
              <a:t>luồng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"/>
              </a:rPr>
              <a:t>tiền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[:TRANSFERRED].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3382565"/>
            <a:ext cx="51244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334155"/>
                </a:solidFill>
                <a:latin typeface="Plus Jakarta Sans"/>
              </a:rPr>
              <a:t>• Index-free Adjacency: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Duyệt quan hệ trực tiếp qua con trỏ bộ nhớ, giải quyết bài toán nghẽn phép nối đệ quy JOIN trong SQL.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805237"/>
            <a:ext cx="5124450" cy="355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334155"/>
                </a:solidFill>
                <a:latin typeface="Plus Jakarta Sans"/>
              </a:rPr>
              <a:t>• Giao dịch ACID: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Bảo đảm tính toàn vẹn số dư với cơ chế khóa ghi bi quan (_txLock) chống Double-Spending.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2523529"/>
            <a:ext cx="1685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REDIS IN-MEMORY NO-SQL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275" y="3123604"/>
            <a:ext cx="51244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334155"/>
                </a:solidFill>
                <a:latin typeface="Plus Jakarta Sans"/>
              </a:rPr>
              <a:t>• Xử lý trên RAM: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Tiếp nhận và xử lý hàng chục ngàn yêu cầu xác thực mỗi giây với độ trễ cực thấp dưới 5ms.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275" y="3546276"/>
            <a:ext cx="51244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334155"/>
                </a:solidFill>
                <a:latin typeface="Plus Jakarta Sans"/>
              </a:rPr>
              <a:t>• Bộ đếm INCR &amp; TTL: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Tự động đếm số lần đăng nhập sai, tự phong tỏa tài khoản và tự hủy key mở khóa không cần Cron Job.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275" y="3968948"/>
            <a:ext cx="51244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334155"/>
                </a:solidFill>
                <a:latin typeface="Plus Jakarta Sans"/>
              </a:rPr>
              <a:t>• Session &amp; Stream: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Quản lý phiên làm việc tập trung, thu hồi quyền tức thì và phát luồng kiểm toán thời gian thực.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6076950"/>
            <a:ext cx="11049000" cy="361950"/>
          </a:xfrm>
          <a:prstGeom prst="roundRect">
            <a:avLst>
              <a:gd name="adj" fmla="val 2105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1500" y="2190750"/>
            <a:ext cx="3666083" cy="2847975"/>
          </a:xfrm>
          <a:prstGeom prst="roundRect">
            <a:avLst>
              <a:gd name="adj" fmla="val 40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28083" y="2190750"/>
            <a:ext cx="3666083" cy="2847975"/>
          </a:xfrm>
          <a:prstGeom prst="roundRect">
            <a:avLst>
              <a:gd name="adj" fmla="val 40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84666" y="2190750"/>
            <a:ext cx="3335684" cy="2847975"/>
          </a:xfrm>
          <a:prstGeom prst="roundRect">
            <a:avLst>
              <a:gd name="adj" fmla="val 40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2475" y="3105150"/>
            <a:ext cx="3304133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09058" y="3105150"/>
            <a:ext cx="3304133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65641" y="2952750"/>
            <a:ext cx="2973734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2475" y="2371725"/>
            <a:ext cx="895350" cy="219075"/>
          </a:xfrm>
          <a:prstGeom prst="roundRect">
            <a:avLst>
              <a:gd name="adj" fmla="val 2608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09058" y="2371725"/>
            <a:ext cx="1447800" cy="219075"/>
          </a:xfrm>
          <a:prstGeom prst="roundRect">
            <a:avLst>
              <a:gd name="adj" fmla="val 26086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65641" y="2371725"/>
            <a:ext cx="895350" cy="219075"/>
          </a:xfrm>
          <a:prstGeom prst="roundRect">
            <a:avLst>
              <a:gd name="adj" fmla="val 26086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00" y="419100"/>
            <a:ext cx="111442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 Chi Tiết Cơ Sở Dữ Liệu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609600"/>
            <a:ext cx="11620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Thiết Kế CSDL Đồ Thị Neo4j (Graph Schema)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981075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Cấu trúc thực thể Đỉnh (Node), Cạnh (Relationship), Ràng buộc duy nhất và Chỉ mục tăng tốc truy vấn.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6181725"/>
            <a:ext cx="7369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Dữ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liệu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mẫu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nạp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sẵn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: 50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tài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khoản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(:Account)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và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114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giao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dịch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lưu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chuyển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với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3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chu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trình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rửa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tiền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cài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đặt</a:t>
            </a:r>
            <a:r>
              <a:rPr sz="975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0369A1"/>
                </a:solidFill>
                <a:latin typeface="Plus Jakarta Sans"/>
              </a:rPr>
              <a:t>sẵn</a:t>
            </a:r>
            <a:endParaRPr sz="975" b="0" i="0" u="none" dirty="0">
              <a:solidFill>
                <a:srgbClr val="0369A1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67950" y="6186487"/>
            <a:ext cx="1488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Seed Data Chuẩn Hóa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2705100"/>
            <a:ext cx="339938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Đại diện cho tài khoản khách hàng trong hệ thống ngân hàng.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4705350"/>
            <a:ext cx="413016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Plus Jakarta Sans"/>
              </a:rPr>
              <a:t>Ràng buộc: REQUIRE a.accountId IS UNIQUE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9058" y="2705100"/>
            <a:ext cx="339938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Mối quan hệ chuyển tiền có hướng kết nối giữa hai đỉnh tài khoản.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9058" y="4133850"/>
            <a:ext cx="413016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Plus Jakarta Sans"/>
              </a:rPr>
              <a:t>Chỉ mục:</a:t>
            </a:r>
            <a:r>
              <a:rPr sz="900" b="0" i="0" u="none">
                <a:solidFill>
                  <a:srgbClr val="15803D"/>
                </a:solidFill>
                <a:latin typeface="Plus Jakarta Sans"/>
              </a:rPr>
              <a:t> ON (r.timestamp) tối ưu cửa sổ thời gian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5641" y="2705100"/>
            <a:ext cx="37171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Quản lý nhân viên vận hành và chuyên viên phân tích.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5641" y="3981450"/>
            <a:ext cx="37171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338CA"/>
                </a:solidFill>
                <a:latin typeface="Plus Jakarta Sans"/>
              </a:rPr>
              <a:t>Ràng buộc: REQUIRE s.staffId IS UNIQUE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2409825"/>
            <a:ext cx="838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ĐỈNH (NODE)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4025" y="2395537"/>
            <a:ext cx="895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JetBrains Mono"/>
              </a:rPr>
              <a:t>:Account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32099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 dirty="0" err="1">
                <a:solidFill>
                  <a:srgbClr val="334155"/>
                </a:solidFill>
                <a:latin typeface="JetBrains Mono"/>
              </a:rPr>
              <a:t>accountId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: String (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Khóa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chính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,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Duy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nhất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34004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 dirty="0" err="1">
                <a:solidFill>
                  <a:srgbClr val="334155"/>
                </a:solidFill>
                <a:latin typeface="JetBrains Mono"/>
              </a:rPr>
              <a:t>ownerName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: String (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Họ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tên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chủ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tài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khoản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50" y="35909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 dirty="0" err="1">
                <a:solidFill>
                  <a:srgbClr val="334155"/>
                </a:solidFill>
                <a:latin typeface="JetBrains Mono"/>
              </a:rPr>
              <a:t>passwordHash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: String (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Mật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khẩu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băm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bcrypt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37814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 dirty="0">
                <a:solidFill>
                  <a:srgbClr val="334155"/>
                </a:solidFill>
                <a:latin typeface="JetBrains Mono"/>
              </a:rPr>
              <a:t>balance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: Float (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Số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dư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khả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dụng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hiện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JetBrains Mono"/>
              </a:rPr>
              <a:t>tại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" y="39719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 dirty="0">
                <a:solidFill>
                  <a:srgbClr val="334155"/>
                </a:solidFill>
                <a:latin typeface="JetBrains Mono"/>
              </a:rPr>
              <a:t>status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: String (ACTIVE / CLOSED)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" y="41624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 dirty="0">
                <a:solidFill>
                  <a:srgbClr val="334155"/>
                </a:solidFill>
                <a:latin typeface="JetBrains Mono"/>
              </a:rPr>
              <a:t>role</a:t>
            </a:r>
            <a:r>
              <a:rPr sz="900" b="0" i="0" u="none" dirty="0">
                <a:solidFill>
                  <a:srgbClr val="334155"/>
                </a:solidFill>
                <a:latin typeface="JetBrains Mono"/>
              </a:rPr>
              <a:t>: String (CUSTOMER / ADMIN)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50" y="43529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>
                <a:solidFill>
                  <a:srgbClr val="334155"/>
                </a:solidFill>
                <a:latin typeface="JetBrains Mono"/>
              </a:rPr>
              <a:t>_txLock</a:t>
            </a:r>
            <a:r>
              <a:rPr sz="900" b="0" i="0" u="none">
                <a:solidFill>
                  <a:srgbClr val="334155"/>
                </a:solidFill>
                <a:latin typeface="JetBrains Mono"/>
              </a:rPr>
              <a:t>: Int (Khóa ghi bi quan trong ACID)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5258" y="2409825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CẠNH (RELATIONSHIP)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3058" y="2395537"/>
            <a:ext cx="1352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JetBrains Mono"/>
              </a:rPr>
              <a:t>[:TRANSFERRED]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3833" y="32099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>
                <a:solidFill>
                  <a:srgbClr val="334155"/>
                </a:solidFill>
                <a:latin typeface="JetBrains Mono"/>
              </a:rPr>
              <a:t>txId</a:t>
            </a:r>
            <a:r>
              <a:rPr sz="900" b="0" i="0" u="none">
                <a:solidFill>
                  <a:srgbClr val="334155"/>
                </a:solidFill>
                <a:latin typeface="JetBrains Mono"/>
              </a:rPr>
              <a:t>: String (Mã định danh giao dịch)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3833" y="34004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>
                <a:solidFill>
                  <a:srgbClr val="334155"/>
                </a:solidFill>
                <a:latin typeface="JetBrains Mono"/>
              </a:rPr>
              <a:t>amount</a:t>
            </a:r>
            <a:r>
              <a:rPr sz="900" b="0" i="0" u="none">
                <a:solidFill>
                  <a:srgbClr val="334155"/>
                </a:solidFill>
                <a:latin typeface="JetBrains Mono"/>
              </a:rPr>
              <a:t>: Float (Số tiền chuyển khoản VNĐ)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3833" y="35909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>
                <a:solidFill>
                  <a:srgbClr val="334155"/>
                </a:solidFill>
                <a:latin typeface="JetBrains Mono"/>
              </a:rPr>
              <a:t>timestamp</a:t>
            </a:r>
            <a:r>
              <a:rPr sz="900" b="0" i="0" u="none">
                <a:solidFill>
                  <a:srgbClr val="334155"/>
                </a:solidFill>
                <a:latin typeface="JetBrains Mono"/>
              </a:rPr>
              <a:t>: Integer (Mốc thời gian phát sinh)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3833" y="3781425"/>
            <a:ext cx="38682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>
                <a:solidFill>
                  <a:srgbClr val="334155"/>
                </a:solidFill>
                <a:latin typeface="JetBrains Mono"/>
              </a:rPr>
              <a:t>note</a:t>
            </a:r>
            <a:r>
              <a:rPr sz="900" b="0" i="0" u="none">
                <a:solidFill>
                  <a:srgbClr val="334155"/>
                </a:solidFill>
                <a:latin typeface="JetBrains Mono"/>
              </a:rPr>
              <a:t>: String (Nội dung chuyển khoản)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1841" y="2409825"/>
            <a:ext cx="838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ĐỈNH (NODE)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7191" y="2395537"/>
            <a:ext cx="742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JetBrains Mono"/>
              </a:rPr>
              <a:t>:Staff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0416" y="3057525"/>
            <a:ext cx="345523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>
                <a:solidFill>
                  <a:srgbClr val="334155"/>
                </a:solidFill>
                <a:latin typeface="JetBrains Mono"/>
              </a:rPr>
              <a:t>staffId</a:t>
            </a:r>
            <a:r>
              <a:rPr sz="900" b="0" i="0" u="none">
                <a:solidFill>
                  <a:srgbClr val="334155"/>
                </a:solidFill>
                <a:latin typeface="JetBrains Mono"/>
              </a:rPr>
              <a:t>: String (Khóa chính)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0416" y="3248025"/>
            <a:ext cx="345523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>
                <a:solidFill>
                  <a:srgbClr val="334155"/>
                </a:solidFill>
                <a:latin typeface="JetBrains Mono"/>
              </a:rPr>
              <a:t>fullName</a:t>
            </a:r>
            <a:r>
              <a:rPr sz="900" b="0" i="0" u="none">
                <a:solidFill>
                  <a:srgbClr val="334155"/>
                </a:solidFill>
                <a:latin typeface="JetBrains Mono"/>
              </a:rPr>
              <a:t>: String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0416" y="3438525"/>
            <a:ext cx="345523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>
                <a:solidFill>
                  <a:srgbClr val="334155"/>
                </a:solidFill>
                <a:latin typeface="JetBrains Mono"/>
              </a:rPr>
              <a:t>role</a:t>
            </a:r>
            <a:r>
              <a:rPr sz="900" b="0" i="0" u="none">
                <a:solidFill>
                  <a:srgbClr val="334155"/>
                </a:solidFill>
                <a:latin typeface="JetBrains Mono"/>
              </a:rPr>
              <a:t>: ADMIN / 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70416" y="3629025"/>
            <a:ext cx="345523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JetBrains Mono"/>
              </a:rPr>
              <a:t>• </a:t>
            </a:r>
            <a:r>
              <a:rPr sz="900" b="1" i="0" u="none">
                <a:solidFill>
                  <a:srgbClr val="334155"/>
                </a:solidFill>
                <a:latin typeface="JetBrains Mono"/>
              </a:rPr>
              <a:t>status</a:t>
            </a:r>
            <a:r>
              <a:rPr sz="900" b="0" i="0" u="none">
                <a:solidFill>
                  <a:srgbClr val="334155"/>
                </a:solidFill>
                <a:latin typeface="JetBrains Mono"/>
              </a:rPr>
              <a:t>: ACTIVE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6076950"/>
            <a:ext cx="11049000" cy="361950"/>
          </a:xfrm>
          <a:prstGeom prst="roundRect">
            <a:avLst>
              <a:gd name="adj" fmla="val 210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324100"/>
          <a:ext cx="11048998" cy="2581275"/>
        </p:xfrm>
        <a:graphic>
          <a:graphicData uri="http://schemas.openxmlformats.org/drawingml/2006/table">
            <a:tbl>
              <a:tblPr/>
              <a:tblGrid>
                <a:gridCol w="2102494"/>
                <a:gridCol w="1965870"/>
                <a:gridCol w="1566267"/>
                <a:gridCol w="5414367"/>
              </a:tblGrid>
              <a:tr h="32265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Tiền Tố Khóa (Key Pattern)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Cấu Trúc Dữ Liệu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Thời Gian Sống (TTL)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Mục Đích Nghiệp Vụ Cốt Lõi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2265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DC2626"/>
                          </a:solidFill>
                          <a:latin typeface="JetBrains Mono"/>
                        </a:rPr>
                        <a:t>login:fail:{accountId}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String (Atomic Counter)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900 giây (15 phút)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Đếm số lần đăng nhập sai; kích hoạt khóa khi chạm ngưỡng 5 lần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265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DC2626"/>
                          </a:solidFill>
                          <a:latin typeface="JetBrains Mono"/>
                        </a:rPr>
                        <a:t>login:lock:{accountId}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String (Flag)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B91C1C"/>
                          </a:solidFill>
                          <a:latin typeface="Plus Jakarta Sans"/>
                        </a:rPr>
                        <a:t>300 giây (5 phút)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Khóa phong tỏa tài khoản sau 5 lần sai, trả HTTP 429 Too Many Requests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CFC"/>
                    </a:solidFill>
                  </a:tcPr>
                </a:tc>
              </a:tr>
              <a:tr h="32265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B45309"/>
                          </a:solidFill>
                          <a:latin typeface="JetBrains Mono"/>
                        </a:rPr>
                        <a:t>login:ipblock:{ip}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String / 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1800 giây (30 phút)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Chặn toàn bộ truy cập từ IP khi phát hiện dò quét mật khẩu (Password Spraying)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265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session:{token}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String (JSON Metadata)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3600 giây (1 giờ)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Quản lý phiên đăng nhập phân tán; tự động thu hồi ngay khi tài khoản bị khóa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265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otp:{txRef}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Hash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60 giây (1 phút)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Lưu thông tin giao dịch chờ ký OTP: người gửi, người nhận, số tiền, mã OTP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265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7C3AED"/>
                          </a:solidFill>
                          <a:latin typeface="JetBrains Mono"/>
                        </a:rPr>
                        <a:t>security:events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Stream (Append-only Log)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MAXLEN ~ 1000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Ghi nhận nhật ký an ninh kiểm toán thời gian thực phục vụ Server-Sent Events (SSE)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2662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config:fraud_mode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String ('ALERT' | 'BLOCK')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Vĩnh viễn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Cấu hình chế độ bảo vệ toàn cục: chỉ cảnh báo hay chặn đứng giao dịch khép vòng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1500" y="419100"/>
            <a:ext cx="111442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 Chi Tiết Cơ Sở Dữ Liệu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09600"/>
            <a:ext cx="11620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Thiết Kế CSDL Redis (Key-Value Schema &amp; Data Structures)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981075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Phân cấp tiền tố (Namespacing) rõ ràng, kết hợp thời gian sống tự hủy (TTL) kiểm soát an ninh tức thì.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3575" y="6186487"/>
            <a:ext cx="2381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C2626"/>
                </a:solidFill>
                <a:latin typeface="Plus Jakarta Sans"/>
              </a:rPr>
              <a:t>Redis Pipeline &amp; In-Memory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60960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69993" y="229552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69993" y="3219450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69993" y="414337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2137"/>
            <a:ext cx="6769893" cy="3524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1662"/>
            <a:ext cx="6750843" cy="350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14425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Chức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Năng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Hệ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Thống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9600"/>
            <a:ext cx="11620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Trung Tâm Giám Sát Rủi Ro &amp; Đồ Thị Dòng Tiền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81075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Màn hình điều hành trung tâm giúp theo dõi các chỉ số vận hành và trực quan hóa mạng lưới giao dịch.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6191250"/>
            <a:ext cx="5643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40AF"/>
                </a:solidFill>
                <a:latin typeface="Plus Jakarta Sans"/>
              </a:rPr>
              <a:t>Hỗ trợ chế độ xem toàn cảnh hoặc phóng to chi tiết từng cụm tài khoản có rủi 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0" y="6196012"/>
            <a:ext cx="2309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Vis-Network &amp; Neo4j Live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2868" y="243840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Thẻ Chỉ Số KPI Động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2868" y="265747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Hiển thị tức thời 50 tài khoản, 130 giao dịch lưu chuyển và cảnh báo 3 chu trình rửa tiền khép kín đã nhận diện.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2868" y="3362325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Plus Jakarta Sans"/>
              </a:rPr>
              <a:t>Trực Quan Hóa Đồ Thị Vis-Network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2868" y="3581400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Plus Jakarta Sans"/>
              </a:rPr>
              <a:t>Biểu diễn các tài khoản thành các đỉnh và luồng tiền thành các cạnh có hướng, tự động tô đỏ các chu trình gian lận.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2868" y="428625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Bộ Lọc Nâng 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2868" y="450532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Cho phép quản trị viên lọc theo khung thời gian (24 giờ), ngưỡng số tiền tối thiểu và chỉ hiện chu trình nghi vấn.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706396"/>
            <a:ext cx="6826871" cy="40347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60960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69993" y="229552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69993" y="3219450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69993" y="414337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2137"/>
            <a:ext cx="6769893" cy="3524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1662"/>
            <a:ext cx="6750843" cy="350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14425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Chức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Năng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Hệ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 smtClean="0">
                <a:solidFill>
                  <a:srgbClr val="2563EB"/>
                </a:solidFill>
                <a:latin typeface="Plus Jakarta Sans"/>
              </a:rPr>
              <a:t>Thống</a:t>
            </a:r>
            <a:endParaRPr sz="975" b="1" i="0" u="none" dirty="0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609600"/>
            <a:ext cx="11620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Cổng Giao Dịch Chuyển Tiền &amp; Kiểm Toán Chu Trình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81075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Thực thi chuyển tiền an toàn, cập nhật số dư nguyên tử và kiểm tra ngăn chặn giao dịch khép vòng.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6191250"/>
            <a:ext cx="5429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Bao gồm nút chức năng "Mô phỏng chu trình 3 bước" phục vụ kiểm thử nhanh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3625" y="6196012"/>
            <a:ext cx="1893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Plus Jakarta Sans"/>
              </a:rPr>
              <a:t>Bảo Đảm Toàn Vẹn Tài Chính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2868" y="243840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Plus Jakarta Sans"/>
              </a:rPr>
              <a:t>Giao Dịch Toàn Vẹn ACID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2868" y="265747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4532D"/>
                </a:solidFill>
                <a:latin typeface="Plus Jakarta Sans"/>
              </a:rPr>
              <a:t>Áp dụng khóa ghi tạm thời trên Neo4j bảo vệ số dư khả dụng, ngăn chặn triệt để lỗi trừ tiền 2 lần khi chuyển song song.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2868" y="3362325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Plus Jakarta Sans"/>
              </a:rPr>
              <a:t>Chế Độ Chặn Khép Vòng (BLOCK Mode)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2868" y="3581400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Plus Jakarta Sans"/>
              </a:rPr>
              <a:t>Tự động mô phỏng đường đi trước khi chuyển tiền; nếu tạo thành vòng tròn rửa tiền sẽ từ chối với mã HTTP 409 Conflict.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2868" y="428625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Nhật Ký Giao Dịch Toàn Hệ Thống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2868" y="450532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Bảng bên phải cập nhật tức thì mã giao dịch, luồng tiền tài khoản gửi - nhận, số tiền và nội dung chuyển khoản.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33" y="1839050"/>
            <a:ext cx="6900560" cy="3789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60960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69993" y="229552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69993" y="3219450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69993" y="414337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2137"/>
            <a:ext cx="6769893" cy="3524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1662"/>
            <a:ext cx="6750843" cy="350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14425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Chức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Năng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Hệ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 smtClean="0">
                <a:solidFill>
                  <a:srgbClr val="2563EB"/>
                </a:solidFill>
                <a:latin typeface="Plus Jakarta Sans"/>
              </a:rPr>
              <a:t>Thống</a:t>
            </a:r>
            <a:endParaRPr sz="975" b="1" i="0" u="none" dirty="0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609600"/>
            <a:ext cx="11620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Quản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Lý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Hồ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Sơ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Tài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Khoản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Ngân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lus Jakarta Sans"/>
              </a:rPr>
              <a:t>Hàng</a:t>
            </a: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 (CRUD)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81075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Quản trị danh mục tập đỉnh Node (:Account) trên đồ thị Neo4j, điều chỉnh số dư và đánh giá rủi 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6191250"/>
            <a:ext cx="6584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Khi đóng tài khoản (CLOSED), hệ thống tự động thu hồi ngay các phiên đăng nhập tương ứng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6475" y="6196012"/>
            <a:ext cx="1964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Đồng Bộ Trực Tiếp Lên Đồ Thị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2868" y="243840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Danh Bạ Tài Khoản Chi Tiết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2868" y="265747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Hiển thị rõ ràng mã tài khoản (ACC001..ACC050), tên chủ sở hữu, số dư khả dụng, ngày mở và trạng thái ACTIVE.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2868" y="3362325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B45309"/>
                </a:solidFill>
                <a:latin typeface="Plus Jakarta Sans"/>
              </a:rPr>
              <a:t>Phân Loại Cấp Độ Rủi 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2868" y="3581400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2400E"/>
                </a:solidFill>
                <a:latin typeface="Plus Jakarta Sans"/>
              </a:rPr>
              <a:t>Tự động gắn huy hiệu điểm rủi ro: LOW, MEDIUM hoặc HIGH dựa trên ma trận rủi ro kết hợp từ Neo4j và Redis.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2868" y="428625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Thao Tác Quản Trị Đầy Đủ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2868" y="450532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Hỗ trợ tìm kiếm nhanh theo mã/tên, mở thêm tài khoản mới (băm bcrypt), cập nhật thông tin và đóng tài khoản.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58" y="1713110"/>
            <a:ext cx="6821198" cy="40280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60960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69993" y="229552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69993" y="3219450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69993" y="414337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2137"/>
            <a:ext cx="6769893" cy="3524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1662"/>
            <a:ext cx="6750843" cy="350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14425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Chức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Năng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Hệ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 smtClean="0">
                <a:solidFill>
                  <a:srgbClr val="2563EB"/>
                </a:solidFill>
                <a:latin typeface="Plus Jakarta Sans"/>
              </a:rPr>
              <a:t>Thống</a:t>
            </a:r>
            <a:endParaRPr sz="975" b="1" i="0" u="none" dirty="0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609600"/>
            <a:ext cx="11620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Trung Tâm Phòng Chống Tấn Công Brute-Force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81075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Giám sát bộ đếm đăng nhập thất bại và đếm ngược thời gian sống TTL trên Redis In-Memory.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6191250"/>
            <a:ext cx="6858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40AF"/>
                </a:solidFill>
                <a:latin typeface="Plus Jakarta Sans"/>
              </a:rPr>
              <a:t>Hệ thống đồng thời tích hợp bảo vệ theo địa chỉ IP chống tấn công Password Spraying diện rộng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3150" y="6196012"/>
            <a:ext cx="1881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Redis INCR + EXPIRE Tự Hủy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2868" y="243840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Bộ Công Cụ Kiểm Thử Xâm Nhập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2868" y="265747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Cung cấp công cụ mô phỏng gửi 1 yêu cầu sai hoặc "Bắn 5 Request liên tiếp" để thử nghiệm cơ chế phòng vệ.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2868" y="3362325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Plus Jakarta Sans"/>
              </a:rPr>
              <a:t>Khóa Tự Động &amp; Đếm Ngược TTL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2868" y="3581400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Plus Jakarta Sans"/>
              </a:rPr>
              <a:t>Khi sai đến lần 5, tài khoản bị tạm khóa 5 phút (300 giây) kèm thông báo HTTP 429 và hiển thị thời gian còn lại.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2868" y="428625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Plus Jakarta Sans"/>
              </a:rPr>
              <a:t>Quản Trị Mở Khóa Tức Thì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2868" y="450532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4532D"/>
                </a:solidFill>
                <a:latin typeface="Plus Jakarta Sans"/>
              </a:rPr>
              <a:t>Cho phép quản trị viên xem danh sách các tài khoản đang bị phong tỏa và bấm nút "Gỡ phong tỏa" ngay lập tức.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1413475"/>
            <a:ext cx="6979443" cy="4421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60960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69993" y="229552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69993" y="3219450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69993" y="414337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2137"/>
            <a:ext cx="6769893" cy="3524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1662"/>
            <a:ext cx="6750843" cy="350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1442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 Chức Năng Hệ Thống (Màn Hình Demo 5)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9600"/>
            <a:ext cx="11620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Phân Tích Đồ Thị Nâng Cao &amp; Phát Hiện Mẫu Rửa Tiền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81075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Truy vấn chu trình biến đổi độ dài và nhận diện 3 mẫu hình gian lận phức tạp trên đồ thị Neo4j.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6191250"/>
            <a:ext cx="6203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Bao gồm cả mẫu phân tán dòng tiền nhanh (Rapid Fan-out) đồng loạt tới nhiều tài khoản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2225" y="6196012"/>
            <a:ext cx="1607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Neo4j Cypher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2868" y="243840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40AF"/>
                </a:solidFill>
                <a:latin typeface="Plus Jakarta Sans"/>
              </a:rPr>
              <a:t>Chu Trình Dài (3 đến 5 Đỉnh)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2868" y="265747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3A8A"/>
                </a:solidFill>
                <a:latin typeface="Plus Jakarta Sans"/>
              </a:rPr>
              <a:t>Quét đường đi khép kín linh hoạt từ 3 đến 5 chặng, hiển thị chi tiết số giao dịch, tổng tiền và thời gian luân chuyển.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2868" y="3362325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Chia Nhỏ Giao Dịch (Structuring)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2868" y="3581400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Phát hiện tài khoản cố tình chia nhỏ dòng tiền dưới ngưỡng 10 triệu đồng trong 24 giờ để né tránh kiểm soát.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2868" y="428625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Tài Khoản Trung Chuyển (Mule)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2868" y="450532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Nhận diện tài khoản nhận tiền rồi nhanh chóng chuyển tiếp trên 90% số tiền chỉ trong vòng 30 phút.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32" y="1360024"/>
            <a:ext cx="7050791" cy="45284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60960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69993" y="229552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69993" y="3219450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69993" y="4143375"/>
            <a:ext cx="4050506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2137"/>
            <a:ext cx="6769893" cy="3524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1662"/>
            <a:ext cx="6750843" cy="350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14425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Chức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Năng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Hệ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975" b="1" i="0" u="none" dirty="0" err="1" smtClean="0">
                <a:solidFill>
                  <a:srgbClr val="2563EB"/>
                </a:solidFill>
                <a:latin typeface="Plus Jakarta Sans"/>
              </a:rPr>
              <a:t>Thống</a:t>
            </a:r>
            <a:endParaRPr sz="975" b="1" i="0" u="none" dirty="0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609600"/>
            <a:ext cx="11620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Phân Tích Kế Hoạch Thực Thi Truy Vấn Cypher (PROFILE)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81075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Đánh giá hiệu năng thực tế, thống kê số lượt truy cập cơ sở dữ liệu (DB Hits) và cây toán tử thực thi của Neo4j.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6191250"/>
            <a:ext cx="63460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Hỗ trợ tùy chọn chạy PROFILE đối với nhiều mẫu truy vấn Cypher khác nhau trong hệ thống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3625" y="6196012"/>
            <a:ext cx="1893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Cypher Query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2868" y="243840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Đo Lường Thời Gian Thực Thi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2868" y="265747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Ghi nhận thời gian thực thi chính xác (231 ms) trên cụm cơ sở dữ liệu Neo4j Aura Cloud.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2868" y="3362325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Đo Đếm Chi Phí DB Hits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2868" y="3581400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Đo đạc 2.965 DB Hits và trả về chính xác số dòng kết quả khớp với điều kiện phân tích tài khoản trung chuyển.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2868" y="4286250"/>
            <a:ext cx="4479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Minh Bạch Cây Toán Tử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2868" y="4505325"/>
            <a:ext cx="386000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Hiển thị rõ các bước thực thi: ProduceResults, Distinct, Filter, và Projection để kiểm tra và tinh chỉnh câu lệnh.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43" y="1425095"/>
            <a:ext cx="7023005" cy="4398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029325"/>
            <a:ext cx="108204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6029325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307" y="161076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032" y="1696489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84250" y="1663152"/>
            <a:ext cx="14525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FinGuard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534" y="6172200"/>
            <a:ext cx="2202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Bộ Môn: Cơ Sở Dữ Liệu NoSQL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7046" y="6172200"/>
            <a:ext cx="3440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Kính Chúc Quý Thầy Cô Sức Khỏe &amp; Thành Công!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172200"/>
            <a:ext cx="904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Năm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043" y="2687481"/>
            <a:ext cx="249299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b="1" dirty="0">
                <a:solidFill>
                  <a:srgbClr val="38BDF8"/>
                </a:solidFill>
                <a:latin typeface="Plus Jakarta Sans"/>
              </a:rP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1957</Words>
  <Application>Microsoft Office PowerPoint</Application>
  <PresentationFormat>Widescreen</PresentationFormat>
  <Paragraphs>169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Plus Jakarta Sans</vt:lpstr>
      <vt:lpstr>Arial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2026-10-26T00:36:40Z</dcterms:modified>
  <cp:category/>
</cp:coreProperties>
</file>